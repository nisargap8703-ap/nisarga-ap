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66" r:id="rId2"/>
    <p:sldId id="256" r:id="rId3"/>
    <p:sldId id="26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8" r:id="rId13"/>
    <p:sldId id="265" r:id="rId14"/>
    <p:sldId id="267" r:id="rId15"/>
  </p:sldIdLst>
  <p:sldSz cx="14630400" cy="8229600"/>
  <p:notesSz cx="8229600" cy="146304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Algerian" panose="04020705040A02060702" pitchFamily="82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6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1726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4.svg"/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35.svg"/><Relationship Id="rId3" Type="http://schemas.openxmlformats.org/officeDocument/2006/relationships/image" Target="../media/image20.png"/><Relationship Id="rId7" Type="http://schemas.openxmlformats.org/officeDocument/2006/relationships/image" Target="../media/image29.sv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11" Type="http://schemas.openxmlformats.org/officeDocument/2006/relationships/image" Target="../media/image33.svg"/><Relationship Id="rId5" Type="http://schemas.openxmlformats.org/officeDocument/2006/relationships/image" Target="../media/image27.svg"/><Relationship Id="rId10" Type="http://schemas.openxmlformats.org/officeDocument/2006/relationships/image" Target="../media/image24.png"/><Relationship Id="rId4" Type="http://schemas.openxmlformats.org/officeDocument/2006/relationships/image" Target="../media/image21.png"/><Relationship Id="rId9" Type="http://schemas.openxmlformats.org/officeDocument/2006/relationships/image" Target="../media/image3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9.sv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BB1A7A-8B35-817E-F963-B832527D25E2}"/>
              </a:ext>
            </a:extLst>
          </p:cNvPr>
          <p:cNvSpPr txBox="1"/>
          <p:nvPr/>
        </p:nvSpPr>
        <p:spPr>
          <a:xfrm>
            <a:off x="1943100" y="1560933"/>
            <a:ext cx="10744200" cy="13154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ctr">
              <a:lnSpc>
                <a:spcPct val="115000"/>
              </a:lnSpc>
              <a:spcBef>
                <a:spcPts val="720"/>
              </a:spcBef>
              <a:spcAft>
                <a:spcPts val="720"/>
              </a:spcAft>
              <a:buNone/>
            </a:pPr>
            <a:r>
              <a:rPr lang="en-IN" sz="36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EAI-421: Application of AI &amp; ML in Agriculture (0+10)</a:t>
            </a:r>
            <a:endParaRPr lang="en-IN" sz="3600" kern="1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A16699-7B8F-D3C9-DA98-86C2586CCF2E}"/>
              </a:ext>
            </a:extLst>
          </p:cNvPr>
          <p:cNvSpPr txBox="1">
            <a:spLocks noChangeArrowheads="1"/>
          </p:cNvSpPr>
          <p:nvPr/>
        </p:nvSpPr>
        <p:spPr>
          <a:xfrm>
            <a:off x="6356096" y="5002375"/>
            <a:ext cx="6331204" cy="21528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Team:</a:t>
            </a:r>
          </a:p>
          <a:p>
            <a:pPr marL="0" indent="0">
              <a:buNone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BMB2034   Nisarga. P</a:t>
            </a:r>
          </a:p>
          <a:p>
            <a:pPr marL="0" indent="0">
              <a:buNone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BMB2053  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Sweta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 C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BMB2005   Akshatha Gopal </a:t>
            </a:r>
          </a:p>
        </p:txBody>
      </p:sp>
      <p:pic>
        <p:nvPicPr>
          <p:cNvPr id="4" name="Picture 3" descr="UAS-B New Logo and Diamond Jubilee Year Logo – DEPARTMENT OF ...">
            <a:extLst>
              <a:ext uri="{FF2B5EF4-FFF2-40B4-BE49-F238E27FC236}">
                <a16:creationId xmlns:a16="http://schemas.microsoft.com/office/drawing/2014/main" id="{E6243998-2CDE-F6DD-F3A1-DC561CDBA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957" y="4857503"/>
            <a:ext cx="2451651" cy="2152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6F1364-59B0-37F3-E8AB-B878F427B2B6}"/>
              </a:ext>
            </a:extLst>
          </p:cNvPr>
          <p:cNvSpPr txBox="1"/>
          <p:nvPr/>
        </p:nvSpPr>
        <p:spPr>
          <a:xfrm>
            <a:off x="3028950" y="648778"/>
            <a:ext cx="85725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REPORT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68EE6D6-589A-AA3D-7029-D5C23CF40064}"/>
              </a:ext>
            </a:extLst>
          </p:cNvPr>
          <p:cNvSpPr/>
          <p:nvPr/>
        </p:nvSpPr>
        <p:spPr>
          <a:xfrm>
            <a:off x="1981962" y="2876358"/>
            <a:ext cx="11256960" cy="1304817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Machine Learning in Biofertilizer Industry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04041" y="457200"/>
          <a:ext cx="13069614" cy="7220607"/>
        </p:xfrm>
        <a:graphic>
          <a:graphicData uri="http://schemas.openxmlformats.org/drawingml/2006/table">
            <a:tbl>
              <a:tblPr/>
              <a:tblGrid>
                <a:gridCol w="13069614">
                  <a:extLst>
                    <a:ext uri="{9D8B030D-6E8A-4147-A177-3AD203B41FA5}">
                      <a16:colId xmlns:a16="http://schemas.microsoft.com/office/drawing/2014/main" val="100138225"/>
                    </a:ext>
                  </a:extLst>
                </a:gridCol>
              </a:tblGrid>
              <a:tr h="722060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315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6528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80190" y="2923579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6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  <a:ea typeface="Petrona Bold" pitchFamily="34" charset="-122"/>
                <a:cs typeface="Times New Roman" panose="02020603050405020304" pitchFamily="18" charset="0"/>
              </a:rPr>
              <a:t>Machine Learning in</a:t>
            </a:r>
          </a:p>
          <a:p>
            <a:pPr marL="0" indent="0" algn="l">
              <a:lnSpc>
                <a:spcPts val="5850"/>
              </a:lnSpc>
              <a:buNone/>
            </a:pPr>
            <a:r>
              <a:rPr lang="en-US" sz="6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  <a:ea typeface="Petrona Bold" pitchFamily="34" charset="-122"/>
                <a:cs typeface="Times New Roman" panose="02020603050405020304" pitchFamily="18" charset="0"/>
              </a:rPr>
              <a:t>Biofertilizer Industry</a:t>
            </a:r>
            <a:endParaRPr lang="en-US" sz="6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80190" y="394370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4561761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5905619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8E7B4F-B298-50E2-51AF-82AE6CAF1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079671"/>
              </p:ext>
            </p:extLst>
          </p:nvPr>
        </p:nvGraphicFramePr>
        <p:xfrm>
          <a:off x="0" y="0"/>
          <a:ext cx="14630400" cy="834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1504">
                  <a:extLst>
                    <a:ext uri="{9D8B030D-6E8A-4147-A177-3AD203B41FA5}">
                      <a16:colId xmlns:a16="http://schemas.microsoft.com/office/drawing/2014/main" val="2021959883"/>
                    </a:ext>
                  </a:extLst>
                </a:gridCol>
                <a:gridCol w="8516203">
                  <a:extLst>
                    <a:ext uri="{9D8B030D-6E8A-4147-A177-3AD203B41FA5}">
                      <a16:colId xmlns:a16="http://schemas.microsoft.com/office/drawing/2014/main" val="387324040"/>
                    </a:ext>
                  </a:extLst>
                </a:gridCol>
                <a:gridCol w="4312693">
                  <a:extLst>
                    <a:ext uri="{9D8B030D-6E8A-4147-A177-3AD203B41FA5}">
                      <a16:colId xmlns:a16="http://schemas.microsoft.com/office/drawing/2014/main" val="2193557489"/>
                    </a:ext>
                  </a:extLst>
                </a:gridCol>
              </a:tblGrid>
              <a:tr h="941696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32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32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3200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SLIDE NUMBERS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308496"/>
                  </a:ext>
                </a:extLst>
              </a:tr>
              <a:tr h="263402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Petrona Bold" pitchFamily="34" charset="-122"/>
                          <a:cs typeface="Times New Roman" panose="02020603050405020304" pitchFamily="18" charset="0"/>
                        </a:rPr>
                        <a:t>Abstract &amp; Problem Statement</a:t>
                      </a:r>
                      <a:endParaRPr lang="en-US" sz="24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706039"/>
                  </a:ext>
                </a:extLst>
              </a:tr>
              <a:tr h="562288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Petrona Bold" pitchFamily="34" charset="-122"/>
                          <a:cs typeface="Times New Roman" panose="02020603050405020304" pitchFamily="18" charset="0"/>
                        </a:rPr>
                        <a:t>Introduction &amp; Background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7954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Petrona Bold" pitchFamily="34" charset="-122"/>
                          <a:cs typeface="Times New Roman" panose="02020603050405020304" pitchFamily="18" charset="0"/>
                        </a:rPr>
                        <a:t>Methodologies &amp; Key Results</a:t>
                      </a:r>
                      <a:endParaRPr lang="en-US" sz="24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556419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Petrona Bold" pitchFamily="34" charset="-122"/>
                          <a:cs typeface="Times New Roman" panose="02020603050405020304" pitchFamily="18" charset="0"/>
                        </a:rPr>
                        <a:t>Review of Literature</a:t>
                      </a:r>
                      <a:endParaRPr lang="en-US" sz="24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70929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Petrona Bold" pitchFamily="34" charset="-122"/>
                          <a:cs typeface="Times New Roman" panose="02020603050405020304" pitchFamily="18" charset="0"/>
                        </a:rPr>
                        <a:t>Objectives</a:t>
                      </a:r>
                      <a:endParaRPr lang="en-US" sz="24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4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110722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Petrona Bold" pitchFamily="34" charset="-122"/>
                          <a:cs typeface="Times New Roman" panose="02020603050405020304" pitchFamily="18" charset="0"/>
                        </a:rPr>
                        <a:t>Materials &amp; Methods</a:t>
                      </a:r>
                      <a:endParaRPr lang="en-US" sz="24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16362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Petrona Bold" pitchFamily="34" charset="-122"/>
                          <a:cs typeface="Times New Roman" panose="02020603050405020304" pitchFamily="18" charset="0"/>
                        </a:rPr>
                        <a:t>System Architecture</a:t>
                      </a:r>
                      <a:endParaRPr lang="en-US" sz="24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4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386498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Petrona Bold" pitchFamily="34" charset="-122"/>
                          <a:cs typeface="Times New Roman" panose="02020603050405020304" pitchFamily="18" charset="0"/>
                        </a:rPr>
                        <a:t>Experimental Results</a:t>
                      </a:r>
                      <a:endParaRPr lang="en-US" sz="24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11 - 12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929149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Petrona Bold" pitchFamily="34" charset="-122"/>
                          <a:cs typeface="Times New Roman" panose="02020603050405020304" pitchFamily="18" charset="0"/>
                        </a:rPr>
                        <a:t>Conclusion &amp; Future Scope</a:t>
                      </a:r>
                      <a:endParaRPr lang="en-US" sz="24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503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9149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3385" y="1277422"/>
            <a:ext cx="6297930" cy="566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000" b="1" u="sng" dirty="0">
                <a:solidFill>
                  <a:srgbClr val="000000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Abstract &amp; Problem Statement</a:t>
            </a:r>
            <a:endParaRPr lang="en-US" sz="4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305" y="2473688"/>
            <a:ext cx="7589996" cy="42362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81768" y="2002153"/>
            <a:ext cx="2264212" cy="24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The Crisis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381768" y="2585799"/>
            <a:ext cx="3892748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Global population projected to surpass </a:t>
            </a:r>
            <a:r>
              <a:rPr lang="en-US" sz="16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9 billion by 2050</a:t>
            </a: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 Excessive synthetic fertilisers degrade soil — elevating acidity, reducing biodiversity, and emitting greenhouse gases.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381768" y="3688556"/>
            <a:ext cx="2264212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The Solution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381768" y="4102775"/>
            <a:ext cx="3892748" cy="121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Biofertilisers (living microorganisms colonising the rhizosphere) offer a sustainable alternative — but optimal selection across diverse crops, soils, and climates demands ML-driven intelligence.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381768" y="5448419"/>
            <a:ext cx="2264212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Scope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381768" y="5862637"/>
            <a:ext cx="3892748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Implement and compare RF, SVM, k-NN, Decision Tree, and XGBoost for biofertiliser recommendation, evaluated on accuracy, RMSE, precision, recall, and F1-score.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49035"/>
            <a:ext cx="753665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Introduction &amp; Background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1933456"/>
            <a:ext cx="3664744" cy="3154442"/>
          </a:xfrm>
          <a:prstGeom prst="roundRect">
            <a:avLst>
              <a:gd name="adj" fmla="val 302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28224" y="2167890"/>
            <a:ext cx="3195876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Chemical Fertiliser Problem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28224" y="3048119"/>
            <a:ext cx="319587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Excess N, P, K inputs reduce soil biodiversity, increase GHG emissions, and cause long-term fertility loss.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685348" y="1933456"/>
            <a:ext cx="3664863" cy="3154442"/>
          </a:xfrm>
          <a:prstGeom prst="roundRect">
            <a:avLst>
              <a:gd name="adj" fmla="val 302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919782" y="216789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Biofertiliser Types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919782" y="2676049"/>
            <a:ext cx="319599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Rhizobium, Azospirillum, Pseudomonas, Bacillus, PGPR, and fungal/algal biofertilisers improve nutrient bioavailability without ecological harm.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93790" y="5314712"/>
            <a:ext cx="7556421" cy="2065734"/>
          </a:xfrm>
          <a:prstGeom prst="roundRect">
            <a:avLst>
              <a:gd name="adj" fmla="val 461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28224" y="554914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Why ML?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28224" y="6057305"/>
            <a:ext cx="70875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ML models nonlinear relationships between soil chemistry, climate variables, microbial dynamics, and crop outcomes — yielding actionable farmer recommendations.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58553" y="1222534"/>
            <a:ext cx="5588675" cy="52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4400" b="1" u="sng" dirty="0">
                <a:solidFill>
                  <a:srgbClr val="000000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Methodologies &amp; Key Results</a:t>
            </a:r>
            <a:endParaRPr lang="en-US" sz="4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758553" y="2036683"/>
            <a:ext cx="2113836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Five ML Algorithms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758553" y="2429351"/>
            <a:ext cx="2622828" cy="1406843"/>
          </a:xfrm>
          <a:prstGeom prst="roundRect">
            <a:avLst>
              <a:gd name="adj" fmla="val 780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735693" y="2429351"/>
            <a:ext cx="91440" cy="1406843"/>
          </a:xfrm>
          <a:prstGeom prst="roundRect">
            <a:avLst>
              <a:gd name="adj" fmla="val 73978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010966" y="2613184"/>
            <a:ext cx="2113836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XGBoost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10966" y="2991564"/>
            <a:ext cx="2186583" cy="660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Gradient-boosted trees — </a:t>
            </a:r>
            <a:r>
              <a:rPr lang="en-US" sz="16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99.09% accuracy</a:t>
            </a: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across 21 crops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495681" y="2429351"/>
            <a:ext cx="2622947" cy="1406843"/>
          </a:xfrm>
          <a:prstGeom prst="roundRect">
            <a:avLst>
              <a:gd name="adj" fmla="val 780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72821" y="2429351"/>
            <a:ext cx="91440" cy="1406843"/>
          </a:xfrm>
          <a:prstGeom prst="roundRect">
            <a:avLst>
              <a:gd name="adj" fmla="val 73978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48093" y="2613184"/>
            <a:ext cx="2113836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Random Forest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48093" y="2991564"/>
            <a:ext cx="2186702" cy="660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Ensemble of 100 trees — </a:t>
            </a:r>
            <a:r>
              <a:rPr lang="en-US" sz="16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+111% soybean yield</a:t>
            </a: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with rhizobium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758553" y="3950494"/>
            <a:ext cx="2622828" cy="1406843"/>
          </a:xfrm>
          <a:prstGeom prst="roundRect">
            <a:avLst>
              <a:gd name="adj" fmla="val 780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735693" y="3950494"/>
            <a:ext cx="91440" cy="1406843"/>
          </a:xfrm>
          <a:prstGeom prst="roundRect">
            <a:avLst>
              <a:gd name="adj" fmla="val 73978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010966" y="4134326"/>
            <a:ext cx="2113836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SVM (RBF)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010966" y="4512707"/>
            <a:ext cx="2186583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Precision 0.97, Recall 0.91, F1 0.95 for PGPR prediction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495681" y="3950494"/>
            <a:ext cx="2622947" cy="1406843"/>
          </a:xfrm>
          <a:prstGeom prst="roundRect">
            <a:avLst>
              <a:gd name="adj" fmla="val 780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472821" y="3950494"/>
            <a:ext cx="91440" cy="1406843"/>
          </a:xfrm>
          <a:prstGeom prst="roundRect">
            <a:avLst>
              <a:gd name="adj" fmla="val 73978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48093" y="4134326"/>
            <a:ext cx="2113836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Decision Tree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48093" y="4512707"/>
            <a:ext cx="2186702" cy="660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Gini-based hierarchical classifier for feature-driven yield classification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758553" y="5471636"/>
            <a:ext cx="2622828" cy="1406843"/>
          </a:xfrm>
          <a:prstGeom prst="roundRect">
            <a:avLst>
              <a:gd name="adj" fmla="val 780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735693" y="5471636"/>
            <a:ext cx="91440" cy="1406843"/>
          </a:xfrm>
          <a:prstGeom prst="roundRect">
            <a:avLst>
              <a:gd name="adj" fmla="val 73978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010966" y="5655469"/>
            <a:ext cx="2113836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k-NN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010966" y="6033849"/>
            <a:ext cx="2186583" cy="660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Simple proximity classifier — poor on high-dimensional agricultural data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519154" y="2036683"/>
            <a:ext cx="2640092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Results vs Existing Systems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519154" y="2429351"/>
            <a:ext cx="5360075" cy="2912031"/>
          </a:xfrm>
          <a:prstGeom prst="roundRect">
            <a:avLst>
              <a:gd name="adj" fmla="val 2323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526774" y="2436971"/>
            <a:ext cx="5344835" cy="37266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687985" y="2513171"/>
            <a:ext cx="2079308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Method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096857" y="2513171"/>
            <a:ext cx="1541026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Application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967448" y="2513171"/>
            <a:ext cx="743188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Score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526774" y="2809637"/>
            <a:ext cx="5344835" cy="5929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687985" y="2885837"/>
            <a:ext cx="2079308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XGBoost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096857" y="2885837"/>
            <a:ext cx="1541026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Crop recommendation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967448" y="2885837"/>
            <a:ext cx="743188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99.09%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526774" y="3402568"/>
            <a:ext cx="5344835" cy="37266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687985" y="3478768"/>
            <a:ext cx="2079308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Deep Collab. MF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0096857" y="3478768"/>
            <a:ext cx="1541026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Coffee biofertiliser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1967448" y="3478768"/>
            <a:ext cx="743188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97.88%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526774" y="3775234"/>
            <a:ext cx="5344835" cy="37266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687985" y="3851434"/>
            <a:ext cx="2079308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SVM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0096857" y="3851434"/>
            <a:ext cx="1541026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PGPR prediction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1967448" y="3851434"/>
            <a:ext cx="743188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F1: 0.95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7526774" y="4147899"/>
            <a:ext cx="5344835" cy="5929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687985" y="4224099"/>
            <a:ext cx="2079308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Gradient Boosted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0096857" y="4224099"/>
            <a:ext cx="1541026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Drought-resilient strains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1967448" y="4224099"/>
            <a:ext cx="743188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87%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526774" y="4740831"/>
            <a:ext cx="5344835" cy="5929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687985" y="4817031"/>
            <a:ext cx="2079308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Random Forest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0096857" y="4817031"/>
            <a:ext cx="1541026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Soybean + rhizobium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1967448" y="4817031"/>
            <a:ext cx="743188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+111% yield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6014" y="891183"/>
            <a:ext cx="4465558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4400" b="1" u="sng" dirty="0">
                <a:solidFill>
                  <a:srgbClr val="000000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Review of Literature</a:t>
            </a:r>
            <a:endParaRPr lang="en-US" sz="4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014" y="1704499"/>
            <a:ext cx="1238488" cy="7653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46014" y="2629257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Abbas et al. (2020)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446014" y="2984659"/>
            <a:ext cx="2814995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SVR outperformed all models for potato yield prediction via proximal sensing. k-NN poor in 3 of 4 datasets. Large training sets essential.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0433" y="1704499"/>
            <a:ext cx="1238488" cy="76533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20433" y="2629257"/>
            <a:ext cx="2332911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Indumathi et al. (2021)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420433" y="2984659"/>
            <a:ext cx="2814995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SVM achieved precision 0.97, recall 0.91, F1 0.95 for PGPR identification in millet using NCBI genomic data — highest among all tested algorithms.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4853" y="1704499"/>
            <a:ext cx="1238488" cy="76533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94853" y="2629257"/>
            <a:ext cx="2814995" cy="557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Raveena &amp; Surendran (2023)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394853" y="3263622"/>
            <a:ext cx="281499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Deep collaborative matrix factorisation achieved </a:t>
            </a:r>
            <a:r>
              <a:rPr lang="en-US" sz="16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97.88% accuracy</a:t>
            </a: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for coffee biofertiliser recommendation, modelling plant health, weather, and soil interactions.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9272" y="1704499"/>
            <a:ext cx="1238488" cy="76533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369272" y="2629257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Miller et al. (2023)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10369272" y="2984659"/>
            <a:ext cx="2814995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Gradient-boosted trees achieved </a:t>
            </a:r>
            <a:r>
              <a:rPr lang="en-US" sz="16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87% accuracy</a:t>
            </a: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for drought-resilient microbial strain identification, requiring 3.38M computation time units.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6014" y="4835843"/>
            <a:ext cx="1674733" cy="103501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46014" y="6030278"/>
            <a:ext cx="3029903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Dey, Ferdous &amp; Ahmed (2024)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1446014" y="6385679"/>
            <a:ext cx="3806428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XGBoost achieved </a:t>
            </a:r>
            <a:r>
              <a:rPr lang="en-US" sz="16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99.09% precision</a:t>
            </a: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across 21 crops using NPK, pH, temperature, humidity, and rainfall. k-NN least effective for high-dimensional data.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1867" y="4835843"/>
            <a:ext cx="1674733" cy="103501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411867" y="6030278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Jemo et al. (2023)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5411867" y="6385679"/>
            <a:ext cx="3806428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Random Forest revealed rhizobium + phosphorus increased average soybean yields by </a:t>
            </a:r>
            <a:r>
              <a:rPr lang="en-US" sz="16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111%</a:t>
            </a: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across three agroecological zones in northern Nigeria.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7720" y="4835843"/>
            <a:ext cx="1674852" cy="1035129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9377720" y="6030397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Show et al. (2023)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4"/>
          <p:cNvSpPr/>
          <p:nvPr/>
        </p:nvSpPr>
        <p:spPr>
          <a:xfrm>
            <a:off x="9377720" y="6385798"/>
            <a:ext cx="380654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Gradient boosting optimised digestate + chemical fertiliser for rice. Optimal CW-BF:NPK (3:1:1) produced maximum </a:t>
            </a:r>
            <a:r>
              <a:rPr lang="en-US" sz="16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7,521 kg/hectare</a:t>
            </a: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grain output.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7892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5400" b="1" u="sng" dirty="0">
                <a:solidFill>
                  <a:srgbClr val="000000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Objectives</a:t>
            </a:r>
            <a:endParaRPr lang="en-US" sz="5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765941"/>
            <a:ext cx="4196358" cy="4235648"/>
          </a:xfrm>
          <a:prstGeom prst="roundRect">
            <a:avLst>
              <a:gd name="adj" fmla="val 3486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735461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551688" y="242577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755761" y="259592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1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084" y="333291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CONSTRUCT Dataset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51084" y="3841075"/>
            <a:ext cx="3681770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Build a multi-variable crop-biofertiliser dataset integrating soil parameters (N, P, K, pH, moisture), climatic variables, and biofertiliser labels from Kaggle, UCI, and NCBI — with preprocessing and feature engineering.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216962" y="2765941"/>
            <a:ext cx="4196358" cy="4235648"/>
          </a:xfrm>
          <a:prstGeom prst="roundRect">
            <a:avLst>
              <a:gd name="adj" fmla="val 3486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216962" y="2735461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974860" y="242577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178933" y="259592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2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74256" y="3332917"/>
            <a:ext cx="368177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IMPLEMENT &amp; COMPARE Models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74256" y="4213146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Train and evaluate RF, SVM, k-NN, Decision Tree, and XGBoost on the dataset. Measure accuracy, precision, recall, F1-score, and RMSE.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640133" y="2765941"/>
            <a:ext cx="4196358" cy="4235648"/>
          </a:xfrm>
          <a:prstGeom prst="roundRect">
            <a:avLst>
              <a:gd name="adj" fmla="val 3486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640133" y="2735461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1398032" y="242577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602105" y="259592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3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897427" y="3332917"/>
            <a:ext cx="368177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ANALYSE &amp; PROPOSE Framework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897427" y="4213146"/>
            <a:ext cx="368177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Identify the best-performing model, justify superiority through statistical analysis, and propose an integrated AI + IoT decision-support system for real-time biofertiliser recommendation.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40457" y="674112"/>
            <a:ext cx="3758327" cy="469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5400" b="1" u="sng" dirty="0">
                <a:solidFill>
                  <a:srgbClr val="000000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Materials &amp; Methods</a:t>
            </a:r>
            <a:endParaRPr lang="en-US" sz="5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233923" y="1662094"/>
            <a:ext cx="8677028" cy="469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Dataset — Kaggle Crop Recommendation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375654" y="2596515"/>
            <a:ext cx="3230523" cy="373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2,200 records</a:t>
            </a: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| 7 input features | 22 crop classes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375654" y="3071693"/>
            <a:ext cx="3230523" cy="2748439"/>
          </a:xfrm>
          <a:prstGeom prst="roundRect">
            <a:avLst>
              <a:gd name="adj" fmla="val 218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83274" y="3079313"/>
            <a:ext cx="3215283" cy="3103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526506" y="3141107"/>
            <a:ext cx="835223" cy="18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Feature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5576" y="3141107"/>
            <a:ext cx="1799868" cy="18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Description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383274" y="3389709"/>
            <a:ext cx="3215283" cy="4972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526506" y="3451503"/>
            <a:ext cx="835223" cy="18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N, P, 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5576" y="3451503"/>
            <a:ext cx="1799868" cy="373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Soil macro-nutrients (kg/ha)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383274" y="3886914"/>
            <a:ext cx="3215283" cy="4972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526506" y="3948708"/>
            <a:ext cx="835223" cy="373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Temperature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5576" y="3948708"/>
            <a:ext cx="1799868" cy="18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Average temp (°C)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383274" y="4384119"/>
            <a:ext cx="3215283" cy="3103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526506" y="4445913"/>
            <a:ext cx="835223" cy="18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Humidity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55576" y="4445913"/>
            <a:ext cx="1799868" cy="18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Relative humidity (%)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383274" y="4694515"/>
            <a:ext cx="3215283" cy="3103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526506" y="4756309"/>
            <a:ext cx="835223" cy="18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655576" y="4756309"/>
            <a:ext cx="1799868" cy="18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Soil pH (0–14)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383274" y="5004911"/>
            <a:ext cx="3215283" cy="3103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526506" y="5066705"/>
            <a:ext cx="835223" cy="18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Rainfall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655576" y="5066705"/>
            <a:ext cx="1799868" cy="18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Annual rainfall (mm)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383274" y="5315307"/>
            <a:ext cx="3215283" cy="4972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526506" y="5377101"/>
            <a:ext cx="835223" cy="18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Crop Label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655576" y="5377101"/>
            <a:ext cx="1799868" cy="373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Target class (22 categories)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375654" y="5921693"/>
            <a:ext cx="1879163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375654" y="6246852"/>
            <a:ext cx="3230523" cy="560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963126" y="2834283"/>
            <a:ext cx="1985963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Preprocessing Pipeline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126" y="3170634"/>
            <a:ext cx="6299121" cy="2363629"/>
          </a:xfrm>
          <a:prstGeom prst="rect">
            <a:avLst/>
          </a:prstGeom>
        </p:spPr>
      </p:pic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1342560" y="3772693"/>
            <a:ext cx="325362" cy="325363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1052682" y="4859811"/>
            <a:ext cx="950059" cy="38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Train/Test Split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10151427" y="3773303"/>
            <a:ext cx="325362" cy="32536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9855346" y="4955895"/>
            <a:ext cx="950059" cy="19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Label Encode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960599" y="3773303"/>
            <a:ext cx="325362" cy="32536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8664519" y="4859811"/>
            <a:ext cx="950059" cy="38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Feature Scaling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7769771" y="3773303"/>
            <a:ext cx="325362" cy="325362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473691" y="4859811"/>
            <a:ext cx="950059" cy="38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Handle Missing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572437" y="3773303"/>
            <a:ext cx="325362" cy="32536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256834" y="4955895"/>
            <a:ext cx="950060" cy="19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Load Data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3"/>
          <p:cNvSpPr/>
          <p:nvPr/>
        </p:nvSpPr>
        <p:spPr>
          <a:xfrm>
            <a:off x="5963126" y="5635823"/>
            <a:ext cx="6299121" cy="373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Training set: </a:t>
            </a:r>
            <a:r>
              <a:rPr lang="en-US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1,760 samples</a:t>
            </a: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| Test set: </a:t>
            </a:r>
            <a:r>
              <a:rPr lang="en-US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440 samples</a:t>
            </a: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 Top-ranked features: N, K, humidity, and rainfall.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34593" y="499348"/>
            <a:ext cx="3947517" cy="49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4000" b="1" u="sng" dirty="0">
                <a:solidFill>
                  <a:srgbClr val="000000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System Architecture</a:t>
            </a:r>
            <a:endParaRPr lang="en-US" sz="4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804" y="1192173"/>
            <a:ext cx="10043993" cy="376892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578444" y="2152185"/>
            <a:ext cx="518806" cy="51880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116219" y="4038860"/>
            <a:ext cx="1514916" cy="306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Evaluate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8679124" y="2153158"/>
            <a:ext cx="518807" cy="518807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207009" y="4038860"/>
            <a:ext cx="1514916" cy="306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Train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780289" y="2153158"/>
            <a:ext cx="518807" cy="51880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308175" y="4038860"/>
            <a:ext cx="1514917" cy="306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Features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4881455" y="2153158"/>
            <a:ext cx="518807" cy="518807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409341" y="4038860"/>
            <a:ext cx="1514917" cy="306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Preprocess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2972245" y="2153158"/>
            <a:ext cx="518807" cy="518807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2469003" y="4038860"/>
            <a:ext cx="1514916" cy="306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Input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6"/>
          <p:cNvSpPr/>
          <p:nvPr/>
        </p:nvSpPr>
        <p:spPr>
          <a:xfrm>
            <a:off x="1784765" y="4809743"/>
            <a:ext cx="1037641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The end-to-end pipeline ingests raw IoT sensor data, preprocesses and engineers features, trains five ML models in parallel, evaluates on 440 held-out samples, and delivers ranked crop + biofertiliser recommendations via web dashboard, mobile app, or IoT display.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1834593" y="5585460"/>
            <a:ext cx="5138380" cy="1022509"/>
          </a:xfrm>
          <a:prstGeom prst="roundRect">
            <a:avLst>
              <a:gd name="adj" fmla="val 6177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1992588" y="5743456"/>
            <a:ext cx="1973699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Farmer Interface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9"/>
          <p:cNvSpPr/>
          <p:nvPr/>
        </p:nvSpPr>
        <p:spPr>
          <a:xfrm>
            <a:off x="1992588" y="6049923"/>
            <a:ext cx="48223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Input soil data, request recommendations, view history, export reports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7072628" y="5585460"/>
            <a:ext cx="5138380" cy="1022509"/>
          </a:xfrm>
          <a:prstGeom prst="roundRect">
            <a:avLst>
              <a:gd name="adj" fmla="val 6177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7230624" y="5743456"/>
            <a:ext cx="1973699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ML System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7230624" y="6049923"/>
            <a:ext cx="48223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Preprocess → Train 5 models → Evaluate → Select XGBoost → Generate recommendation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1834593" y="6707624"/>
            <a:ext cx="5138380" cy="1022509"/>
          </a:xfrm>
          <a:prstGeom prst="roundRect">
            <a:avLst>
              <a:gd name="adj" fmla="val 6177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1992588" y="6865620"/>
            <a:ext cx="1973699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IoT Integration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1992588" y="7172087"/>
            <a:ext cx="48223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Auto-collect real-time sensor data (pH, NPK, moisture, temperature, humidity)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7072628" y="6707624"/>
            <a:ext cx="5138380" cy="1022509"/>
          </a:xfrm>
          <a:prstGeom prst="roundRect">
            <a:avLst>
              <a:gd name="adj" fmla="val 6177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7230624" y="6865620"/>
            <a:ext cx="1973699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Admin / Researcher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7230624" y="7172087"/>
            <a:ext cx="482238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Update dataset with field experiment data and retrain models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1182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u="sng" dirty="0">
                <a:solidFill>
                  <a:srgbClr val="000000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Experimental Results</a:t>
            </a:r>
            <a:endParaRPr lang="en-US" sz="3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148" y="797244"/>
            <a:ext cx="9727095" cy="41269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23289" y="1265757"/>
            <a:ext cx="286547" cy="195644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Times New Roman" panose="02020603050405020304" pitchFamily="18" charset="0"/>
                <a:ea typeface="-apple-system, BlinkMacSystemFont, Segoe UI, Roboto, Helvetica Neue, Arial, sans-serif Medium" pitchFamily="34" charset="-122"/>
                <a:cs typeface="Times New Roman" panose="02020603050405020304" pitchFamily="18" charset="0"/>
              </a:rPr>
              <a:t>99.1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668980" y="2017440"/>
            <a:ext cx="286546" cy="195643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Times New Roman" panose="02020603050405020304" pitchFamily="18" charset="0"/>
                <a:ea typeface="-apple-system, BlinkMacSystemFont, Segoe UI, Roboto, Helvetica Neue, Arial, sans-serif Medium" pitchFamily="34" charset="-122"/>
                <a:cs typeface="Times New Roman" panose="02020603050405020304" pitchFamily="18" charset="0"/>
              </a:rPr>
              <a:t>98.5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612539" y="2769123"/>
            <a:ext cx="286547" cy="195643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Times New Roman" panose="02020603050405020304" pitchFamily="18" charset="0"/>
                <a:ea typeface="-apple-system, BlinkMacSystemFont, Segoe UI, Roboto, Helvetica Neue, Arial, sans-serif Medium" pitchFamily="34" charset="-122"/>
                <a:cs typeface="Times New Roman" panose="02020603050405020304" pitchFamily="18" charset="0"/>
              </a:rPr>
              <a:t>97.5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555751" y="3520806"/>
            <a:ext cx="286547" cy="195644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Times New Roman" panose="02020603050405020304" pitchFamily="18" charset="0"/>
                <a:ea typeface="-apple-system, BlinkMacSystemFont, Segoe UI, Roboto, Helvetica Neue, Arial, sans-serif Medium" pitchFamily="34" charset="-122"/>
                <a:cs typeface="Times New Roman" panose="02020603050405020304" pitchFamily="18" charset="0"/>
              </a:rPr>
              <a:t>96.8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457415" y="4272489"/>
            <a:ext cx="286547" cy="195643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Times New Roman" panose="02020603050405020304" pitchFamily="18" charset="0"/>
                <a:ea typeface="-apple-system, BlinkMacSystemFont, Segoe UI, Roboto, Helvetica Neue, Arial, sans-serif Medium" pitchFamily="34" charset="-122"/>
                <a:cs typeface="Times New Roman" panose="02020603050405020304" pitchFamily="18" charset="0"/>
              </a:rPr>
              <a:t>95.3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402449" y="5264467"/>
            <a:ext cx="2041922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Model Performance Summary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338442" y="6415090"/>
            <a:ext cx="8789157" cy="1601391"/>
          </a:xfrm>
          <a:prstGeom prst="roundRect">
            <a:avLst>
              <a:gd name="adj" fmla="val 358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410069" y="5543074"/>
            <a:ext cx="7810262" cy="21919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523774" y="5584627"/>
            <a:ext cx="211252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Model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870615" y="5584627"/>
            <a:ext cx="117145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Acc%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276386" y="5584627"/>
            <a:ext cx="117145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Prec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682157" y="5584627"/>
            <a:ext cx="1093351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Rec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009823" y="5584627"/>
            <a:ext cx="1097161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410069" y="5762268"/>
            <a:ext cx="7810262" cy="21919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523774" y="5803821"/>
            <a:ext cx="211252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XGBoost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870615" y="5803821"/>
            <a:ext cx="117145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99.09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276386" y="5803821"/>
            <a:ext cx="117145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0.99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682157" y="5803821"/>
            <a:ext cx="1093351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0.99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0009823" y="5803821"/>
            <a:ext cx="1097161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0.99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410069" y="5981462"/>
            <a:ext cx="7810262" cy="21919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3523774" y="6023015"/>
            <a:ext cx="211252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Rnd Forest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870615" y="6023015"/>
            <a:ext cx="117145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98.50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7276386" y="6023015"/>
            <a:ext cx="117145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0.99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8682157" y="6023015"/>
            <a:ext cx="1093351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0.98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10009823" y="6023015"/>
            <a:ext cx="1097161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0.98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3371255" y="6200656"/>
            <a:ext cx="7810262" cy="21919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523774" y="6242209"/>
            <a:ext cx="211252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SVM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5870615" y="6242209"/>
            <a:ext cx="117145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97.50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276386" y="6242209"/>
            <a:ext cx="117145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0.98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8682157" y="6242209"/>
            <a:ext cx="1093351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0.97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10009823" y="6242209"/>
            <a:ext cx="1097161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0.97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3383564" y="6581385"/>
            <a:ext cx="7810262" cy="21919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3523774" y="6461403"/>
            <a:ext cx="211252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Dec. Tree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5870615" y="6461403"/>
            <a:ext cx="117145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96.80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7276386" y="6461403"/>
            <a:ext cx="117145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0.97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8682157" y="6461403"/>
            <a:ext cx="1093351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0.97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10009823" y="6461403"/>
            <a:ext cx="1097161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0.97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3410069" y="6639044"/>
            <a:ext cx="7810262" cy="21919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3523774" y="6680597"/>
            <a:ext cx="211252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k-NN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5870615" y="6680597"/>
            <a:ext cx="117145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95.30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7276386" y="6680597"/>
            <a:ext cx="117145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0.95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8682157" y="6680597"/>
            <a:ext cx="1093351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0.95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10009823" y="6680597"/>
            <a:ext cx="1097161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0.95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3402449" y="6950869"/>
            <a:ext cx="1960483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FB236B-C70D-47FC-5BC6-DCC9E035B5B7}"/>
              </a:ext>
            </a:extLst>
          </p:cNvPr>
          <p:cNvSpPr txBox="1"/>
          <p:nvPr/>
        </p:nvSpPr>
        <p:spPr>
          <a:xfrm>
            <a:off x="4489440" y="315282"/>
            <a:ext cx="7315200" cy="356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3600" b="1" u="sng" dirty="0">
                <a:solidFill>
                  <a:srgbClr val="000000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XGBoost Feature Importance</a:t>
            </a:r>
            <a:endParaRPr lang="en-US" sz="3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45">
            <a:extLst>
              <a:ext uri="{FF2B5EF4-FFF2-40B4-BE49-F238E27FC236}">
                <a16:creationId xmlns:a16="http://schemas.microsoft.com/office/drawing/2014/main" id="{A5DDF021-1A10-B7C7-1041-B3D7DAABE597}"/>
              </a:ext>
            </a:extLst>
          </p:cNvPr>
          <p:cNvSpPr/>
          <p:nvPr/>
        </p:nvSpPr>
        <p:spPr>
          <a:xfrm>
            <a:off x="2330849" y="1371144"/>
            <a:ext cx="3447098" cy="141684"/>
          </a:xfrm>
          <a:prstGeom prst="roundRect">
            <a:avLst>
              <a:gd name="adj" fmla="val 3362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46">
            <a:extLst>
              <a:ext uri="{FF2B5EF4-FFF2-40B4-BE49-F238E27FC236}">
                <a16:creationId xmlns:a16="http://schemas.microsoft.com/office/drawing/2014/main" id="{88BCB245-E62C-39F3-3499-14168E5251B4}"/>
              </a:ext>
            </a:extLst>
          </p:cNvPr>
          <p:cNvSpPr/>
          <p:nvPr/>
        </p:nvSpPr>
        <p:spPr>
          <a:xfrm>
            <a:off x="2330849" y="1371144"/>
            <a:ext cx="830699" cy="141684"/>
          </a:xfrm>
          <a:prstGeom prst="roundRect">
            <a:avLst>
              <a:gd name="adj" fmla="val 3362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7">
            <a:extLst>
              <a:ext uri="{FF2B5EF4-FFF2-40B4-BE49-F238E27FC236}">
                <a16:creationId xmlns:a16="http://schemas.microsoft.com/office/drawing/2014/main" id="{BD6C5A24-4941-06ED-154E-964BB18BD0A0}"/>
              </a:ext>
            </a:extLst>
          </p:cNvPr>
          <p:cNvSpPr/>
          <p:nvPr/>
        </p:nvSpPr>
        <p:spPr>
          <a:xfrm>
            <a:off x="5940643" y="1378811"/>
            <a:ext cx="345162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24.1%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8">
            <a:extLst>
              <a:ext uri="{FF2B5EF4-FFF2-40B4-BE49-F238E27FC236}">
                <a16:creationId xmlns:a16="http://schemas.microsoft.com/office/drawing/2014/main" id="{8F5E234F-F5DB-9E93-AC48-2A2718EE1B86}"/>
              </a:ext>
            </a:extLst>
          </p:cNvPr>
          <p:cNvSpPr/>
          <p:nvPr/>
        </p:nvSpPr>
        <p:spPr>
          <a:xfrm>
            <a:off x="2330849" y="1813149"/>
            <a:ext cx="1488519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Humidity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9">
            <a:extLst>
              <a:ext uri="{FF2B5EF4-FFF2-40B4-BE49-F238E27FC236}">
                <a16:creationId xmlns:a16="http://schemas.microsoft.com/office/drawing/2014/main" id="{43B18914-9ED0-6439-2696-9B0953B8AA11}"/>
              </a:ext>
            </a:extLst>
          </p:cNvPr>
          <p:cNvSpPr/>
          <p:nvPr/>
        </p:nvSpPr>
        <p:spPr>
          <a:xfrm>
            <a:off x="2330849" y="2278906"/>
            <a:ext cx="3877270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Most influential — drives crop category boundaries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0">
            <a:extLst>
              <a:ext uri="{FF2B5EF4-FFF2-40B4-BE49-F238E27FC236}">
                <a16:creationId xmlns:a16="http://schemas.microsoft.com/office/drawing/2014/main" id="{5E0EB100-05F2-0EA7-4450-88F375D8356A}"/>
              </a:ext>
            </a:extLst>
          </p:cNvPr>
          <p:cNvSpPr/>
          <p:nvPr/>
        </p:nvSpPr>
        <p:spPr>
          <a:xfrm>
            <a:off x="8344597" y="1350811"/>
            <a:ext cx="3431858" cy="141684"/>
          </a:xfrm>
          <a:prstGeom prst="roundRect">
            <a:avLst>
              <a:gd name="adj" fmla="val 3362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51">
            <a:extLst>
              <a:ext uri="{FF2B5EF4-FFF2-40B4-BE49-F238E27FC236}">
                <a16:creationId xmlns:a16="http://schemas.microsoft.com/office/drawing/2014/main" id="{A2747111-42AD-9750-3875-57FBDF39D887}"/>
              </a:ext>
            </a:extLst>
          </p:cNvPr>
          <p:cNvSpPr/>
          <p:nvPr/>
        </p:nvSpPr>
        <p:spPr>
          <a:xfrm>
            <a:off x="8344597" y="1378811"/>
            <a:ext cx="679490" cy="141684"/>
          </a:xfrm>
          <a:prstGeom prst="roundRect">
            <a:avLst>
              <a:gd name="adj" fmla="val 3362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52">
            <a:extLst>
              <a:ext uri="{FF2B5EF4-FFF2-40B4-BE49-F238E27FC236}">
                <a16:creationId xmlns:a16="http://schemas.microsoft.com/office/drawing/2014/main" id="{093EA2F6-CD91-D34F-D199-F0A97FDE19B3}"/>
              </a:ext>
            </a:extLst>
          </p:cNvPr>
          <p:cNvSpPr/>
          <p:nvPr/>
        </p:nvSpPr>
        <p:spPr>
          <a:xfrm>
            <a:off x="12119290" y="1370140"/>
            <a:ext cx="360521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19.8%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53">
            <a:extLst>
              <a:ext uri="{FF2B5EF4-FFF2-40B4-BE49-F238E27FC236}">
                <a16:creationId xmlns:a16="http://schemas.microsoft.com/office/drawing/2014/main" id="{9B624A68-C7AF-C26C-6A0E-64DF09987606}"/>
              </a:ext>
            </a:extLst>
          </p:cNvPr>
          <p:cNvSpPr/>
          <p:nvPr/>
        </p:nvSpPr>
        <p:spPr>
          <a:xfrm>
            <a:off x="8366829" y="1813149"/>
            <a:ext cx="1488519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Rainfall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54">
            <a:extLst>
              <a:ext uri="{FF2B5EF4-FFF2-40B4-BE49-F238E27FC236}">
                <a16:creationId xmlns:a16="http://schemas.microsoft.com/office/drawing/2014/main" id="{14FD7350-F523-7B0B-25F3-49FE417DFA3E}"/>
              </a:ext>
            </a:extLst>
          </p:cNvPr>
          <p:cNvSpPr/>
          <p:nvPr/>
        </p:nvSpPr>
        <p:spPr>
          <a:xfrm>
            <a:off x="8366829" y="2275487"/>
            <a:ext cx="387738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High importance for water-intensive crops (rice, jute)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55">
            <a:extLst>
              <a:ext uri="{FF2B5EF4-FFF2-40B4-BE49-F238E27FC236}">
                <a16:creationId xmlns:a16="http://schemas.microsoft.com/office/drawing/2014/main" id="{20A46FA3-88A3-AD70-16F3-9108BA74B92E}"/>
              </a:ext>
            </a:extLst>
          </p:cNvPr>
          <p:cNvSpPr/>
          <p:nvPr/>
        </p:nvSpPr>
        <p:spPr>
          <a:xfrm>
            <a:off x="2329778" y="3295112"/>
            <a:ext cx="3448169" cy="141684"/>
          </a:xfrm>
          <a:prstGeom prst="roundRect">
            <a:avLst>
              <a:gd name="adj" fmla="val 3362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56">
            <a:extLst>
              <a:ext uri="{FF2B5EF4-FFF2-40B4-BE49-F238E27FC236}">
                <a16:creationId xmlns:a16="http://schemas.microsoft.com/office/drawing/2014/main" id="{E99BCB3E-6E90-02AC-ADC1-69B1D1636A1D}"/>
              </a:ext>
            </a:extLst>
          </p:cNvPr>
          <p:cNvSpPr/>
          <p:nvPr/>
        </p:nvSpPr>
        <p:spPr>
          <a:xfrm>
            <a:off x="2329778" y="3295112"/>
            <a:ext cx="644723" cy="141684"/>
          </a:xfrm>
          <a:prstGeom prst="roundRect">
            <a:avLst>
              <a:gd name="adj" fmla="val 3362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58">
            <a:extLst>
              <a:ext uri="{FF2B5EF4-FFF2-40B4-BE49-F238E27FC236}">
                <a16:creationId xmlns:a16="http://schemas.microsoft.com/office/drawing/2014/main" id="{BFBF8D57-1241-4508-4D33-7D78F58053A4}"/>
              </a:ext>
            </a:extLst>
          </p:cNvPr>
          <p:cNvSpPr/>
          <p:nvPr/>
        </p:nvSpPr>
        <p:spPr>
          <a:xfrm>
            <a:off x="2329778" y="3688421"/>
            <a:ext cx="1488519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Potassium (K)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59">
            <a:extLst>
              <a:ext uri="{FF2B5EF4-FFF2-40B4-BE49-F238E27FC236}">
                <a16:creationId xmlns:a16="http://schemas.microsoft.com/office/drawing/2014/main" id="{6392F8FF-A8F2-5F5B-3259-64494F0BE73C}"/>
              </a:ext>
            </a:extLst>
          </p:cNvPr>
          <p:cNvSpPr/>
          <p:nvPr/>
        </p:nvSpPr>
        <p:spPr>
          <a:xfrm>
            <a:off x="2330849" y="4126022"/>
            <a:ext cx="3877270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Critical for differentiating fruit vs. cereal crops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57">
            <a:extLst>
              <a:ext uri="{FF2B5EF4-FFF2-40B4-BE49-F238E27FC236}">
                <a16:creationId xmlns:a16="http://schemas.microsoft.com/office/drawing/2014/main" id="{14F1D3F0-3747-E106-65AD-15DA1A410432}"/>
              </a:ext>
            </a:extLst>
          </p:cNvPr>
          <p:cNvSpPr/>
          <p:nvPr/>
        </p:nvSpPr>
        <p:spPr>
          <a:xfrm>
            <a:off x="6036073" y="3300316"/>
            <a:ext cx="344091" cy="320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18.7%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60">
            <a:extLst>
              <a:ext uri="{FF2B5EF4-FFF2-40B4-BE49-F238E27FC236}">
                <a16:creationId xmlns:a16="http://schemas.microsoft.com/office/drawing/2014/main" id="{5FE2B9E8-DC83-7A38-87F3-543D848DEF87}"/>
              </a:ext>
            </a:extLst>
          </p:cNvPr>
          <p:cNvSpPr/>
          <p:nvPr/>
        </p:nvSpPr>
        <p:spPr>
          <a:xfrm>
            <a:off x="8366829" y="3295112"/>
            <a:ext cx="3437811" cy="141684"/>
          </a:xfrm>
          <a:prstGeom prst="roundRect">
            <a:avLst>
              <a:gd name="adj" fmla="val 3362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61">
            <a:extLst>
              <a:ext uri="{FF2B5EF4-FFF2-40B4-BE49-F238E27FC236}">
                <a16:creationId xmlns:a16="http://schemas.microsoft.com/office/drawing/2014/main" id="{32FCAFE6-D6EA-4BF7-60BF-BB18DE3BAF69}"/>
              </a:ext>
            </a:extLst>
          </p:cNvPr>
          <p:cNvSpPr/>
          <p:nvPr/>
        </p:nvSpPr>
        <p:spPr>
          <a:xfrm>
            <a:off x="8366829" y="3304594"/>
            <a:ext cx="560308" cy="141684"/>
          </a:xfrm>
          <a:prstGeom prst="roundRect">
            <a:avLst>
              <a:gd name="adj" fmla="val 3362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62">
            <a:extLst>
              <a:ext uri="{FF2B5EF4-FFF2-40B4-BE49-F238E27FC236}">
                <a16:creationId xmlns:a16="http://schemas.microsoft.com/office/drawing/2014/main" id="{F5BDDE08-DAC6-465F-AA11-ABCCB590E1A7}"/>
              </a:ext>
            </a:extLst>
          </p:cNvPr>
          <p:cNvSpPr/>
          <p:nvPr/>
        </p:nvSpPr>
        <p:spPr>
          <a:xfrm>
            <a:off x="12244218" y="3341653"/>
            <a:ext cx="354568" cy="190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16.3%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63">
            <a:extLst>
              <a:ext uri="{FF2B5EF4-FFF2-40B4-BE49-F238E27FC236}">
                <a16:creationId xmlns:a16="http://schemas.microsoft.com/office/drawing/2014/main" id="{ADE79330-33AD-0509-3958-FAFD0369BB89}"/>
              </a:ext>
            </a:extLst>
          </p:cNvPr>
          <p:cNvSpPr/>
          <p:nvPr/>
        </p:nvSpPr>
        <p:spPr>
          <a:xfrm>
            <a:off x="8366829" y="3688421"/>
            <a:ext cx="1488519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Nitrogen (N)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64">
            <a:extLst>
              <a:ext uri="{FF2B5EF4-FFF2-40B4-BE49-F238E27FC236}">
                <a16:creationId xmlns:a16="http://schemas.microsoft.com/office/drawing/2014/main" id="{475EC9CF-73BE-AE0F-03C1-B9065F3E2AE4}"/>
              </a:ext>
            </a:extLst>
          </p:cNvPr>
          <p:cNvSpPr/>
          <p:nvPr/>
        </p:nvSpPr>
        <p:spPr>
          <a:xfrm>
            <a:off x="8344597" y="4114800"/>
            <a:ext cx="387738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Legume vs. non-legume biofertiliser selector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448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9460" y="563746"/>
            <a:ext cx="4093964" cy="411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4400" b="1" u="sng" dirty="0">
                <a:solidFill>
                  <a:srgbClr val="000000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Conclusion &amp; Future Scope</a:t>
            </a:r>
            <a:endParaRPr lang="en-US" sz="4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39460" y="1686577"/>
            <a:ext cx="164794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800" b="1" u="sng" dirty="0">
                <a:solidFill>
                  <a:srgbClr val="000000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Conclusion</a:t>
            </a:r>
            <a:endParaRPr lang="en-US"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25221" y="2277346"/>
            <a:ext cx="4238624" cy="1693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XGBoost's </a:t>
            </a:r>
            <a:r>
              <a:rPr lang="en-US" sz="16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99.09% accuracy</a:t>
            </a: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surpasses</a:t>
            </a:r>
          </a:p>
          <a:p>
            <a:pPr marL="0" indent="0" algn="l">
              <a:lnSpc>
                <a:spcPts val="1200"/>
              </a:lnSpc>
              <a:buNone/>
            </a:pPr>
            <a:endParaRPr lang="en-US" sz="1600" dirty="0">
              <a:solidFill>
                <a:srgbClr val="272525"/>
              </a:solidFill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12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SVM (F1: 0.95), deep collaborative MF</a:t>
            </a:r>
          </a:p>
          <a:p>
            <a:pPr marL="0" indent="0" algn="l">
              <a:lnSpc>
                <a:spcPts val="1200"/>
              </a:lnSpc>
              <a:buNone/>
            </a:pPr>
            <a:endParaRPr lang="en-US" sz="1600" dirty="0">
              <a:solidFill>
                <a:srgbClr val="272525"/>
              </a:solidFill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12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(97.88%), and gradient-boosted trees</a:t>
            </a:r>
          </a:p>
          <a:p>
            <a:pPr marL="0" indent="0" algn="l">
              <a:lnSpc>
                <a:spcPts val="1200"/>
              </a:lnSpc>
              <a:buNone/>
            </a:pPr>
            <a:endParaRPr lang="en-US" sz="1600" dirty="0">
              <a:solidFill>
                <a:srgbClr val="272525"/>
              </a:solidFill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12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(87%). Humidity, rainfall, and potassium</a:t>
            </a:r>
          </a:p>
          <a:p>
            <a:pPr marL="0" indent="0" algn="l">
              <a:lnSpc>
                <a:spcPts val="1200"/>
              </a:lnSpc>
              <a:buNone/>
            </a:pPr>
            <a:endParaRPr lang="en-US" sz="1600" dirty="0">
              <a:solidFill>
                <a:srgbClr val="272525"/>
              </a:solidFill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12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are the most predictive features. ML</a:t>
            </a:r>
          </a:p>
          <a:p>
            <a:pPr marL="0" indent="0" algn="l">
              <a:lnSpc>
                <a:spcPts val="1200"/>
              </a:lnSpc>
              <a:buNone/>
            </a:pPr>
            <a:endParaRPr lang="en-US" sz="1600" dirty="0">
              <a:solidFill>
                <a:srgbClr val="272525"/>
              </a:solidFill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12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transforms biofertiliser recommendation</a:t>
            </a:r>
          </a:p>
          <a:p>
            <a:pPr marL="0" indent="0" algn="l">
              <a:lnSpc>
                <a:spcPts val="1200"/>
              </a:lnSpc>
              <a:buNone/>
            </a:pPr>
            <a:endParaRPr lang="en-US" sz="1600" dirty="0">
              <a:solidFill>
                <a:srgbClr val="272525"/>
              </a:solidFill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12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from heuristic guesswork into a </a:t>
            </a:r>
            <a:r>
              <a:rPr lang="en-US" sz="16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scalable,</a:t>
            </a:r>
          </a:p>
          <a:p>
            <a:pPr marL="0" indent="0" algn="l">
              <a:lnSpc>
                <a:spcPts val="1200"/>
              </a:lnSpc>
              <a:buNone/>
            </a:pPr>
            <a:endParaRPr lang="en-US" sz="1600" b="1" dirty="0">
              <a:solidFill>
                <a:srgbClr val="272525"/>
              </a:solidFill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data-driven decision-support system</a:t>
            </a: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for</a:t>
            </a:r>
          </a:p>
          <a:p>
            <a:pPr marL="0" indent="0" algn="l">
              <a:lnSpc>
                <a:spcPts val="1200"/>
              </a:lnSpc>
              <a:buNone/>
            </a:pPr>
            <a:endParaRPr lang="en-US" sz="1600" dirty="0">
              <a:solidFill>
                <a:srgbClr val="272525"/>
              </a:solidFill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12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sustainable precision agriculture.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140643" y="1500394"/>
            <a:ext cx="164794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800" b="1" u="sng" dirty="0">
                <a:solidFill>
                  <a:srgbClr val="000000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Future Directions</a:t>
            </a:r>
            <a:endParaRPr lang="en-US"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581657" y="2048711"/>
            <a:ext cx="302222" cy="3022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87751" y="2096833"/>
            <a:ext cx="164794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AI Integration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060141" y="2440883"/>
            <a:ext cx="3320969" cy="140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CNNs for soil image analysis, LLMs for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regional-language farmer interfaces,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GANs for synthetic data augmentation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Federated Learning, and XAI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(SHAP/LIME) for explainability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581657" y="3879571"/>
            <a:ext cx="302223" cy="30222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40643" y="4030683"/>
            <a:ext cx="164794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IoT Integration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5096003" y="4265213"/>
            <a:ext cx="3571518" cy="468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Smart soil sensor networks, automated biofertiliser dispensers, drone-based monitoring, edge computing (Raspberry Pi), and blockchain traceability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563709" y="5499581"/>
            <a:ext cx="302222" cy="30222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40643" y="5699793"/>
            <a:ext cx="2389459" cy="302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Research Extensions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5060141" y="6113592"/>
            <a:ext cx="3571518" cy="468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Multi-season datasets, climate change adaptation (CMIP6), microbiome profiling (16S rRNA), and advanced ensemble stacking architectures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Image result for Thank You Images For Aiml Ppt with sky blue background">
            <a:extLst>
              <a:ext uri="{FF2B5EF4-FFF2-40B4-BE49-F238E27FC236}">
                <a16:creationId xmlns:a16="http://schemas.microsoft.com/office/drawing/2014/main" id="{251BFA94-3957-95E9-EBBA-A7E767CAF0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Image result for Thank You Images For Aiml Ppt with sky blue background">
            <a:extLst>
              <a:ext uri="{FF2B5EF4-FFF2-40B4-BE49-F238E27FC236}">
                <a16:creationId xmlns:a16="http://schemas.microsoft.com/office/drawing/2014/main" id="{6CF71E6B-4287-0AE5-B001-504B471836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6" descr="Image result for Thank You Images For Aiml Ppt with sky blue background">
            <a:extLst>
              <a:ext uri="{FF2B5EF4-FFF2-40B4-BE49-F238E27FC236}">
                <a16:creationId xmlns:a16="http://schemas.microsoft.com/office/drawing/2014/main" id="{732F1B8E-E434-FBB1-1783-AF509AF454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7600" y="426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E5FAE7-040D-CEF8-A534-655E55CFB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8415"/>
            <a:ext cx="14630400" cy="821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914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1149</Words>
  <Application>Microsoft Office PowerPoint</Application>
  <PresentationFormat>Custom</PresentationFormat>
  <Paragraphs>259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Times New Roman</vt:lpstr>
      <vt:lpstr>Inter</vt:lpstr>
      <vt:lpstr>Arial</vt:lpstr>
      <vt:lpstr>-apple-system, BlinkMacSystemFont, Segoe UI, Roboto, Helvetica Neue, Arial, sans-serif Medium</vt:lpstr>
      <vt:lpstr>Calibri</vt:lpstr>
      <vt:lpstr>Algerian</vt:lpstr>
      <vt:lpstr>Petrona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Student</cp:lastModifiedBy>
  <cp:revision>3</cp:revision>
  <dcterms:created xsi:type="dcterms:W3CDTF">2026-03-31T04:15:01Z</dcterms:created>
  <dcterms:modified xsi:type="dcterms:W3CDTF">2026-04-01T05:16:28Z</dcterms:modified>
</cp:coreProperties>
</file>